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1e68ea5b1a4b3b" /><Relationship Type="http://schemas.openxmlformats.org/officeDocument/2006/relationships/extended-properties" Target="/docProps/app.xml" Id="R09a08a5524714cb8" /><Relationship Type="http://schemas.openxmlformats.org/officeDocument/2006/relationships/officeDocument" Target="/ppt/presentation.xml" Id="Re9dabebbba1f43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c53f005b5c4780"/>
  </p:sldMasterIdLst>
  <p:notesMasterIdLst>
    <p:notesMasterId xmlns:r="http://schemas.openxmlformats.org/officeDocument/2006/relationships" r:id="Rb48f12e2fc984680"/>
  </p:notesMasterIdLst>
  <p:sldIdLst>
    <p:sldId xmlns:r="http://schemas.openxmlformats.org/officeDocument/2006/relationships" id="256" r:id="R085ae00ef311474d"/>
    <p:sldId xmlns:r="http://schemas.openxmlformats.org/officeDocument/2006/relationships" id="257" r:id="R6bf6ad1bb5444b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19c370ce4d44b0" /><Relationship Type="http://schemas.openxmlformats.org/officeDocument/2006/relationships/slideMaster" Target="/ppt/slideMasters/slideMaster1.xml" Id="Re8c53f005b5c4780" /><Relationship Type="http://schemas.openxmlformats.org/officeDocument/2006/relationships/notesMaster" Target="/ppt/notesMasters/notesMaster1.xml" Id="Rb48f12e2fc984680" /><Relationship Type="http://schemas.openxmlformats.org/officeDocument/2006/relationships/presProps" Target="/ppt/presProps.xml" Id="R73fe6b58aefa4836" /><Relationship Type="http://schemas.openxmlformats.org/officeDocument/2006/relationships/tableStyles" Target="/ppt/tableStyles.xml" Id="R758e82c966814dc8" /><Relationship Type="http://schemas.openxmlformats.org/officeDocument/2006/relationships/slide" Target="/ppt/slides/slide1.xml" Id="R085ae00ef311474d" /><Relationship Type="http://schemas.openxmlformats.org/officeDocument/2006/relationships/slide" Target="/ppt/slides/slide2.xml" Id="R6bf6ad1bb5444b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2f477e827f43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341ad2a4ae4fa2" /><Relationship Type="http://schemas.openxmlformats.org/officeDocument/2006/relationships/notesMaster" Target="/ppt/notesMasters/notesMaster1.xml" Id="Ra124d0e941d943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c3a36bbed8496c" /><Relationship Type="http://schemas.openxmlformats.org/officeDocument/2006/relationships/notesMaster" Target="/ppt/notesMasters/notesMaster1.xml" Id="Ra15f4d03bd5549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https://arxiv.org/html/2609.11638v1#S2.SS4 and the author’s expanded project-development A2A conditioning and VLM verification diagrams. This is an editable explanatory redraw, not a measured rollout or an unchanged paper figure. It retains nine condition fields, Identity/Behavior/Holding state, role-bound references, audio, eligible visual observation and acceptance checks. Generation also consumes aligned audio and active references. Accepted feedback affects future condition revisions while media delivery continues independently.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https://arxiv.org/html/2609.11638v1#S2.SS2, Method / Training / Preference Optimization. The report describes diffusion-based Direct Preference Optimization (DPO) on the bidirectional model for visual fidelity, facial expressiveness, motion naturalness and audio-visual synchronization, providing a stronger teacher for subsequent causal adaptation. On the causal backbone, Streaming Negative-aware Fine-Tuning (Streaming NFT) uses self-generated trajectories following Self-Replay Forcing: detached autoregressive rollout, replay of the sampled trajectory, then reward-based optimization. This figure is an original explanatory schematic of the public text. It does not specify undisclosed rewards, weights, hyperparameters or measured gains; DPO is preference optimization rather than a claim about policy-gradient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a853b019642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929e5eb2ba4cd3" /><Relationship Type="http://schemas.openxmlformats.org/officeDocument/2006/relationships/slideLayout" Target="/ppt/slideLayouts/slideLayout1.xml" Id="R7f051b6213764c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051b6213764c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59f51b97c4b7c" /><Relationship Type="http://schemas.openxmlformats.org/officeDocument/2006/relationships/notesSlide" Target="/ppt/notesSlides/notesSlide1.xml" Id="Rf0a4c5b7dec34f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8742940c74768" /><Relationship Type="http://schemas.openxmlformats.org/officeDocument/2006/relationships/notesSlide" Target="/ppt/notesSlides/notesSlide2.xml" Id="R23649527116a49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ext-1">
            <a:extLst xmlns:a="http://schemas.openxmlformats.org/drawingml/2006/main">
              <a:ext uri="{FF2B5EF4-FFF2-40B4-BE49-F238E27FC236}">
                <a16:creationId xmlns:a16="http://schemas.microsoft.com/office/drawing/2014/main" id="{2A30F8B8-3BCF-46B7-801D-0A8E04A9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VIDU S2  /  AGENTIC INTERACTION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B6B4A6F-9F34-46F3-8F9C-AA57A463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3A37"/>
                </a:solidFill>
                <a:latin typeface="Arial"/>
                <a:ea typeface="Arial"/>
                <a:cs typeface="Arial"/>
              </a:rPr>
              <a:t>A stateful interface with VLM feedback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A15C001-BC67-45EA-B901-6B02C129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Plan structured conditions, generate continuously, and revise future conditions from visual evidence.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A20FA7F-8274-4818-82BE-8BB1233F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panel-5">
            <a:extLst xmlns:a="http://schemas.openxmlformats.org/drawingml/2006/main">
              <a:ext uri="{FF2B5EF4-FFF2-40B4-BE49-F238E27FC236}">
                <a16:creationId xmlns:a16="http://schemas.microsoft.com/office/drawing/2014/main" id="{BFAAEA1D-322D-4F5D-A3D1-FD1BF6D0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2333625" cy="273367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15240">
            <a:solidFill>
              <a:srgbClr val="D3DFDA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8C399D1-766D-4DB1-AD2D-1F5D5EC3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User intent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82AC539-CE23-4279-B8A5-6C3C2DEC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A37"/>
                </a:solidFill>
                <a:latin typeface="Arial"/>
                <a:ea typeface="Arial"/>
                <a:cs typeface="Arial"/>
              </a:rPr>
              <a:t>Text instructions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F79AF8F-497B-4691-AEC3-27C24F67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971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3A37"/>
                </a:solidFill>
                <a:latin typeface="Arial"/>
                <a:ea typeface="Arial"/>
                <a:cs typeface="Arial"/>
              </a:rPr>
              <a:t>Role-bound images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E61B33A3-98CC-45D6-9866-E72F86D5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Source · object</a:t>
            </a:r>
          </a:p>
          <a:p xmlns:a="http://schemas.openxmlformats.org/drawingml/2006/main">
            <a:pPr>
              <a:defRPr sz="1500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Garment · background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19D5DBD-464F-493E-991B-27C39074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A37"/>
                </a:solidFill>
                <a:latin typeface="Arial"/>
                <a:ea typeface="Arial"/>
                <a:cs typeface="Arial"/>
              </a:rPr>
              <a:t>Aligned audio</a:t>
            </a:r>
          </a:p>
        </p:txBody>
      </p:sp>
      <p:sp>
        <p:nvSpPr>
          <p:cNvPr id="11" name="panel-11">
            <a:extLst xmlns:a="http://schemas.openxmlformats.org/drawingml/2006/main">
              <a:ext uri="{FF2B5EF4-FFF2-40B4-BE49-F238E27FC236}">
                <a16:creationId xmlns:a16="http://schemas.microsoft.com/office/drawing/2014/main" id="{DA33520E-5923-4717-A6BD-0AD7D0A7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85925"/>
            <a:ext cx="4552950" cy="2733675"/>
          </a:xfrm>
          <a:prstGeom xmlns:a="http://schemas.openxmlformats.org/drawingml/2006/main" prst="roundRect">
            <a:avLst>
              <a:gd name="adj" fmla="val 4181"/>
            </a:avLst>
          </a:prstGeom>
          <a:solidFill xmlns:a="http://schemas.openxmlformats.org/drawingml/2006/main">
            <a:srgbClr val="F7F0DD"/>
          </a:solidFill>
          <a:ln xmlns:a="http://schemas.openxmlformats.org/drawingml/2006/main" w="15240">
            <a:solidFill>
              <a:srgbClr val="D9C9A6"/>
            </a:solidFill>
          </a:ln>
        </p:spPr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B9B74A07-D677-4266-9089-148D5561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57375"/>
            <a:ext cx="404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57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57828"/>
                </a:solidFill>
                <a:latin typeface="Arial"/>
                <a:ea typeface="Arial"/>
                <a:cs typeface="Arial"/>
              </a:rPr>
              <a:t>Condition record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2EA87F8C-ECCF-4894-806D-BC23B666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86000"/>
            <a:ext cx="409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57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7828"/>
                </a:solidFill>
                <a:latin typeface="Arial"/>
                <a:ea typeface="Arial"/>
                <a:cs typeface="Arial"/>
              </a:rPr>
              <a:t>CORE FIELDS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2004CF13-1866-4E64-A67B-754BAABB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9850"/>
            <a:ext cx="16859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Style</a:t>
            </a:r>
          </a:p>
          <a:p xmlns:a="http://schemas.openxmlformats.org/drawingml/2006/main">
            <a:pPr>
              <a:defRPr sz="172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Subject</a:t>
            </a:r>
          </a:p>
          <a:p xmlns:a="http://schemas.openxmlformats.org/drawingml/2006/main">
            <a:pPr>
              <a:defRPr sz="172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E6A09116-922B-4E38-A670-58D0F8EA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23526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Additional information</a:t>
            </a:r>
          </a:p>
          <a:p xmlns:a="http://schemas.openxmlformats.org/drawingml/2006/main">
            <a:pPr>
              <a:defRPr sz="172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Camera language</a:t>
            </a:r>
          </a:p>
          <a:p xmlns:a="http://schemas.openxmlformats.org/drawingml/2006/main">
            <a:pPr>
              <a:defRPr sz="172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Lighting</a:t>
            </a:r>
          </a:p>
        </p:txBody>
      </p:sp>
      <p:sp>
        <p:nvSpPr>
          <p:cNvPr id="16" name="route-16">
            <a:extLst xmlns:a="http://schemas.openxmlformats.org/drawingml/2006/main">
              <a:ext uri="{FF2B5EF4-FFF2-40B4-BE49-F238E27FC236}">
                <a16:creationId xmlns:a16="http://schemas.microsoft.com/office/drawing/2014/main" id="{EB59D453-1FD6-4A77-A737-858B2A2C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76650"/>
            <a:ext cx="4124325" cy="9525"/>
          </a:xfrm>
          <a:custGeom xmlns:a="http://schemas.openxmlformats.org/drawingml/2006/main">
            <a:pathLst>
              <a:path w="4124325" h="9525">
                <a:moveTo>
                  <a:pt x="0" y="0"/>
                </a:moveTo>
                <a:lnTo>
                  <a:pt x="412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D9C9A6"/>
            </a:solidFill>
            <a:prstDash val="solid"/>
          </a:ln>
        </p:spPr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A9C9A86E-9E53-4905-9B9B-D393FDB5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19525"/>
            <a:ext cx="408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57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7828"/>
                </a:solidFill>
                <a:latin typeface="Arial"/>
                <a:ea typeface="Arial"/>
                <a:cs typeface="Arial"/>
              </a:rPr>
              <a:t>OPTIONAL FIELDS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D9037884-7FCA-44D0-A04C-F41EBD01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9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Item  ·  Emotion  ·  Performance</a:t>
            </a:r>
          </a:p>
        </p:txBody>
      </p:sp>
      <p:sp>
        <p:nvSpPr>
          <p:cNvPr id="19" name="panel-19">
            <a:extLst xmlns:a="http://schemas.openxmlformats.org/drawingml/2006/main">
              <a:ext uri="{FF2B5EF4-FFF2-40B4-BE49-F238E27FC236}">
                <a16:creationId xmlns:a16="http://schemas.microsoft.com/office/drawing/2014/main" id="{7407C292-58FE-47F9-945C-960F9661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685925"/>
            <a:ext cx="33242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15240">
            <a:solidFill>
              <a:srgbClr val="D3DFDA"/>
            </a:solidFill>
          </a:ln>
        </p:spPr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E6B3B3CD-E16E-4768-BDE1-52C2C9E4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573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Vidu S2-Avatar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98E787AF-AEF4-49BE-9609-7C20A4E9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145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Streaming video + audio</a:t>
            </a:r>
          </a:p>
        </p:txBody>
      </p:sp>
      <p:cxnSp>
        <p:nvCxnSpPr>
          <p:cNvPr id="67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90825" y="305276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27B88"/>
            </a:solidFill>
            <a:prstDash val="solid"/>
            <a:tailEnd type="triangle" w="med" len="med"/>
          </a:ln>
        </p:spPr>
      </p:cxnSp>
      <p:cxnSp>
        <p:nvCxnSpPr>
          <p:cNvPr id="68" name=""/>
          <p:cNvCxnSpPr>
            <a:stCxn xmlns:a="http://schemas.openxmlformats.org/drawingml/2006/main" id="11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839075" y="2209800"/>
            <a:ext cx="571500" cy="842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127B88"/>
            </a:solidFill>
            <a:prstDash val="solid"/>
            <a:tailEnd type="triangle" w="med" len="med"/>
          </a:ln>
        </p:spPr>
      </p:cxnSp>
      <p:sp>
        <p:nvSpPr>
          <p:cNvPr id="24" name="route-22">
            <a:extLst xmlns:a="http://schemas.openxmlformats.org/drawingml/2006/main">
              <a:ext uri="{FF2B5EF4-FFF2-40B4-BE49-F238E27FC236}">
                <a16:creationId xmlns:a16="http://schemas.microsoft.com/office/drawing/2014/main" id="{51551DC6-3D7F-4E54-9DCB-C7CC6C3C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62100"/>
            <a:ext cx="8448675" cy="123825"/>
          </a:xfrm>
          <a:custGeom xmlns:a="http://schemas.openxmlformats.org/drawingml/2006/main">
            <a:pathLst>
              <a:path w="8448675" h="123825">
                <a:moveTo>
                  <a:pt x="0" y="123825"/>
                </a:moveTo>
                <a:lnTo>
                  <a:pt x="0" y="0"/>
                </a:lnTo>
                <a:lnTo>
                  <a:pt x="8448675" y="0"/>
                </a:lnTo>
                <a:lnTo>
                  <a:pt x="84486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27B88"/>
            </a:solidFill>
            <a:prstDash val="solid"/>
          </a:ln>
        </p:spPr>
      </p:sp>
      <p:sp>
        <p:nvSpPr>
          <p:cNvPr id="25" name="arrowhead-23">
            <a:extLst xmlns:a="http://schemas.openxmlformats.org/drawingml/2006/main">
              <a:ext uri="{FF2B5EF4-FFF2-40B4-BE49-F238E27FC236}">
                <a16:creationId xmlns:a16="http://schemas.microsoft.com/office/drawing/2014/main" id="{1187691E-19FC-4588-A78C-816073B6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020300" y="1619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7B88"/>
          </a:solidFill>
          <a:ln xmlns:a="http://schemas.openxmlformats.org/drawingml/2006/main" w="0">
            <a:noFill/>
          </a:ln>
        </p:spPr>
      </p:sp>
      <p:sp>
        <p:nvSpPr>
          <p:cNvPr id="26" name="panel-24">
            <a:extLst xmlns:a="http://schemas.openxmlformats.org/drawingml/2006/main">
              <a:ext uri="{FF2B5EF4-FFF2-40B4-BE49-F238E27FC236}">
                <a16:creationId xmlns:a16="http://schemas.microsoft.com/office/drawing/2014/main" id="{E9EE2A7E-92CE-4539-A852-133DC68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47800"/>
            <a:ext cx="30861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8"/>
          </a:solidFill>
          <a:ln xmlns:a="http://schemas.openxmlformats.org/drawingml/2006/main" w="15240">
            <a:solidFill>
              <a:srgbClr val="FCFCF8"/>
            </a:solidFill>
          </a:ln>
        </p:spPr>
      </p:sp>
      <p:sp>
        <p:nvSpPr>
          <p:cNvPr id="27" name="text-25">
            <a:extLst xmlns:a="http://schemas.openxmlformats.org/drawingml/2006/main">
              <a:ext uri="{FF2B5EF4-FFF2-40B4-BE49-F238E27FC236}">
                <a16:creationId xmlns:a16="http://schemas.microsoft.com/office/drawing/2014/main" id="{07C268A8-C32B-4361-86CE-56B1DC4D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573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7B88"/>
                </a:solidFill>
                <a:latin typeface="Arial"/>
                <a:ea typeface="Arial"/>
                <a:cs typeface="Arial"/>
              </a:rPr>
              <a:t>Aligned audio + active references</a:t>
            </a:r>
          </a:p>
        </p:txBody>
      </p:sp>
      <p:sp>
        <p:nvSpPr>
          <p:cNvPr id="28" name="panel-26">
            <a:extLst xmlns:a="http://schemas.openxmlformats.org/drawingml/2006/main">
              <a:ext uri="{FF2B5EF4-FFF2-40B4-BE49-F238E27FC236}">
                <a16:creationId xmlns:a16="http://schemas.microsoft.com/office/drawing/2014/main" id="{E1B3A854-3409-4A4E-AF54-AF249F35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28975"/>
            <a:ext cx="3324225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7F0DD"/>
          </a:solidFill>
          <a:ln xmlns:a="http://schemas.openxmlformats.org/drawingml/2006/main" w="15240">
            <a:solidFill>
              <a:srgbClr val="D9C9A6"/>
            </a:solidFill>
          </a:ln>
        </p:spPr>
      </p:sp>
      <p:sp>
        <p:nvSpPr>
          <p:cNvPr id="29" name="text-27">
            <a:extLst xmlns:a="http://schemas.openxmlformats.org/drawingml/2006/main">
              <a:ext uri="{FF2B5EF4-FFF2-40B4-BE49-F238E27FC236}">
                <a16:creationId xmlns:a16="http://schemas.microsoft.com/office/drawing/2014/main" id="{56F23B76-09E4-4B55-8F48-67ADF223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0042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57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57828"/>
                </a:solidFill>
                <a:latin typeface="Arial"/>
                <a:ea typeface="Arial"/>
                <a:cs typeface="Arial"/>
              </a:rPr>
              <a:t>VLM assessment</a:t>
            </a:r>
          </a:p>
        </p:txBody>
      </p:sp>
      <p:sp>
        <p:nvSpPr>
          <p:cNvPr id="30" name="text-28">
            <a:extLst xmlns:a="http://schemas.openxmlformats.org/drawingml/2006/main">
              <a:ext uri="{FF2B5EF4-FFF2-40B4-BE49-F238E27FC236}">
                <a16:creationId xmlns:a16="http://schemas.microsoft.com/office/drawing/2014/main" id="{28FDDB0E-7A7C-4E25-93E9-A4F9BAD0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3857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Eligible observation window</a:t>
            </a:r>
          </a:p>
          <a:p xmlns:a="http://schemas.openxmlformats.org/drawingml/2006/main">
            <a:pPr>
              <a:defRPr sz="1650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Action progress + confidence</a:t>
            </a:r>
          </a:p>
        </p:txBody>
      </p:sp>
      <p:cxnSp>
        <p:nvCxnSpPr>
          <p:cNvPr id="76" name=""/>
          <p:cNvCxnSpPr>
            <a:stCxn xmlns:a="http://schemas.openxmlformats.org/drawingml/2006/main" id="19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0072688" y="27336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57828"/>
            </a:solidFill>
            <a:prstDash val="solid"/>
            <a:tailEnd type="triangle" w="med" len="med"/>
          </a:ln>
        </p:spPr>
      </p:cxnSp>
      <p:sp>
        <p:nvSpPr>
          <p:cNvPr id="32" name="text-29">
            <a:extLst xmlns:a="http://schemas.openxmlformats.org/drawingml/2006/main">
              <a:ext uri="{FF2B5EF4-FFF2-40B4-BE49-F238E27FC236}">
                <a16:creationId xmlns:a16="http://schemas.microsoft.com/office/drawing/2014/main" id="{9DA67FED-C7C2-435E-907E-E13E1641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visual frames</a:t>
            </a:r>
          </a:p>
        </p:txBody>
      </p:sp>
      <p:sp>
        <p:nvSpPr>
          <p:cNvPr id="33" name="panel-30">
            <a:extLst xmlns:a="http://schemas.openxmlformats.org/drawingml/2006/main">
              <a:ext uri="{FF2B5EF4-FFF2-40B4-BE49-F238E27FC236}">
                <a16:creationId xmlns:a16="http://schemas.microsoft.com/office/drawing/2014/main" id="{F5F02892-31BB-4092-9670-DA26BB1F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4552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3DFDA"/>
            </a:solidFill>
          </a:ln>
        </p:spPr>
      </p:sp>
      <p:sp>
        <p:nvSpPr>
          <p:cNvPr id="34" name="text-31">
            <a:extLst xmlns:a="http://schemas.openxmlformats.org/drawingml/2006/main">
              <a:ext uri="{FF2B5EF4-FFF2-40B4-BE49-F238E27FC236}">
                <a16:creationId xmlns:a16="http://schemas.microsoft.com/office/drawing/2014/main" id="{534E9C65-BD98-4D75-9930-62C5D5EE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095875"/>
            <a:ext cx="409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PERSISTENT STATE</a:t>
            </a:r>
          </a:p>
        </p:txBody>
      </p:sp>
      <p:sp>
        <p:nvSpPr>
          <p:cNvPr id="35" name="text-32">
            <a:extLst xmlns:a="http://schemas.openxmlformats.org/drawingml/2006/main">
              <a:ext uri="{FF2B5EF4-FFF2-40B4-BE49-F238E27FC236}">
                <a16:creationId xmlns:a16="http://schemas.microsoft.com/office/drawing/2014/main" id="{1296E7BA-FEB6-4966-B30F-2506AFC8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4102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A37"/>
                </a:solidFill>
                <a:latin typeface="Arial"/>
                <a:ea typeface="Arial"/>
                <a:cs typeface="Arial"/>
              </a:rPr>
              <a:t>Identity  ·  Behavior  ·  Holding</a:t>
            </a:r>
          </a:p>
        </p:txBody>
      </p:sp>
      <p:cxnSp>
        <p:nvCxnSpPr>
          <p:cNvPr id="81" name=""/>
          <p:cNvCxnSpPr>
            <a:stCxn xmlns:a="http://schemas.openxmlformats.org/drawingml/2006/main" id="33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5562600" y="441960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57828"/>
            </a:solidFill>
            <a:prstDash val="solid"/>
            <a:tailEnd type="triangle" w="med" len="med"/>
          </a:ln>
        </p:spPr>
      </p:cxnSp>
      <p:sp>
        <p:nvSpPr>
          <p:cNvPr id="37" name="panel-33">
            <a:extLst xmlns:a="http://schemas.openxmlformats.org/drawingml/2006/main">
              <a:ext uri="{FF2B5EF4-FFF2-40B4-BE49-F238E27FC236}">
                <a16:creationId xmlns:a16="http://schemas.microsoft.com/office/drawing/2014/main" id="{7ACCFBB8-5379-4928-8A4F-A0E05A38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953000"/>
            <a:ext cx="332422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0DD"/>
          </a:solidFill>
          <a:ln xmlns:a="http://schemas.openxmlformats.org/drawingml/2006/main" w="15240">
            <a:solidFill>
              <a:srgbClr val="D9C9A6"/>
            </a:solidFill>
          </a:ln>
        </p:spPr>
      </p:sp>
      <p:sp>
        <p:nvSpPr>
          <p:cNvPr id="38" name="text-34">
            <a:extLst xmlns:a="http://schemas.openxmlformats.org/drawingml/2006/main">
              <a:ext uri="{FF2B5EF4-FFF2-40B4-BE49-F238E27FC236}">
                <a16:creationId xmlns:a16="http://schemas.microsoft.com/office/drawing/2014/main" id="{C1D29560-0D81-4F6D-8D35-AE5DF484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673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57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57828"/>
                </a:solidFill>
                <a:latin typeface="Arial"/>
                <a:ea typeface="Arial"/>
                <a:cs typeface="Arial"/>
              </a:rPr>
              <a:t>Acceptance policy</a:t>
            </a:r>
          </a:p>
        </p:txBody>
      </p:sp>
      <p:sp>
        <p:nvSpPr>
          <p:cNvPr id="39" name="text-35">
            <a:extLst xmlns:a="http://schemas.openxmlformats.org/drawingml/2006/main">
              <a:ext uri="{FF2B5EF4-FFF2-40B4-BE49-F238E27FC236}">
                <a16:creationId xmlns:a16="http://schemas.microsoft.com/office/drawing/2014/main" id="{43779BE7-3148-4B8D-806E-D5F4A34C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467350"/>
            <a:ext cx="2943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Freshness · confirmation · budget</a:t>
            </a:r>
          </a:p>
        </p:txBody>
      </p:sp>
      <p:cxnSp>
        <p:nvCxnSpPr>
          <p:cNvPr id="85" name=""/>
          <p:cNvCxnSpPr>
            <a:stCxn xmlns:a="http://schemas.openxmlformats.org/drawingml/2006/main" id="28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0072688" y="46196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57828"/>
            </a:solidFill>
            <a:prstDash val="solid"/>
            <a:tailEnd type="triangle" w="med" len="med"/>
          </a:ln>
        </p:spPr>
      </p:cxnSp>
      <p:cxnSp>
        <p:nvCxnSpPr>
          <p:cNvPr id="86" name=""/>
          <p:cNvCxnSpPr>
            <a:stCxn xmlns:a="http://schemas.openxmlformats.org/drawingml/2006/main" id="37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7839075" y="53721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57828"/>
            </a:solidFill>
            <a:prstDash val="dash"/>
            <a:tailEnd type="triangle" w="med" len="med"/>
          </a:ln>
        </p:spPr>
      </p:cxnSp>
      <p:sp>
        <p:nvSpPr>
          <p:cNvPr id="42" name="text-36">
            <a:extLst xmlns:a="http://schemas.openxmlformats.org/drawingml/2006/main">
              <a:ext uri="{FF2B5EF4-FFF2-40B4-BE49-F238E27FC236}">
                <a16:creationId xmlns:a16="http://schemas.microsoft.com/office/drawing/2014/main" id="{22A1F7F9-7DA5-4549-AA0B-DC17F87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962650"/>
            <a:ext cx="844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Accepted feedback updates future revisions; uncertain or stale observations do not advance the condition.</a:t>
            </a:r>
          </a:p>
        </p:txBody>
      </p:sp>
      <p:sp>
        <p:nvSpPr>
          <p:cNvPr id="43" name="text-37">
            <a:extLst xmlns:a="http://schemas.openxmlformats.org/drawingml/2006/main">
              <a:ext uri="{FF2B5EF4-FFF2-40B4-BE49-F238E27FC236}">
                <a16:creationId xmlns:a16="http://schemas.microsoft.com/office/drawing/2014/main" id="{DCECB80B-E7CD-4168-B977-0F98D94F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Audio + active references</a:t>
            </a:r>
          </a:p>
          <a:p xmlns:a="http://schemas.openxmlformats.org/drawingml/2006/main">
            <a:pPr>
              <a:defRPr sz="142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condition generation.</a:t>
            </a:r>
          </a:p>
        </p:txBody>
      </p:sp>
      <p:sp>
        <p:nvSpPr>
          <p:cNvPr id="44" name="route-38">
            <a:extLst xmlns:a="http://schemas.openxmlformats.org/drawingml/2006/main">
              <a:ext uri="{FF2B5EF4-FFF2-40B4-BE49-F238E27FC236}">
                <a16:creationId xmlns:a16="http://schemas.microsoft.com/office/drawing/2014/main" id="{D4DBA754-3348-4958-8BF0-FF718B06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2225"/>
            <a:ext cx="11277600" cy="9525"/>
          </a:xfrm>
          <a:custGeom xmlns:a="http://schemas.openxmlformats.org/drawingml/2006/main"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D3DFDA"/>
            </a:solidFill>
            <a:prstDash val="solid"/>
          </a:ln>
        </p:spPr>
      </p:sp>
      <p:sp>
        <p:nvSpPr>
          <p:cNvPr id="45" name="text-39">
            <a:extLst xmlns:a="http://schemas.openxmlformats.org/drawingml/2006/main">
              <a:ext uri="{FF2B5EF4-FFF2-40B4-BE49-F238E27FC236}">
                <a16:creationId xmlns:a16="http://schemas.microsoft.com/office/drawing/2014/main" id="{60A1364D-873B-4C57-A487-977DC696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Author-redrawn workflow · Expanded project schematic + Vidu S2 §2.4 · Model internals omitted by design.</a:t>
            </a:r>
          </a:p>
        </p:txBody>
      </p:sp>
    </p:spTree>
    <p:extLst>
      <p:ext uri="{BB962C8B-B14F-4D97-AF65-F5344CB8AC3E}">
        <p14:creationId xmlns:p14="http://schemas.microsoft.com/office/powerpoint/2010/main" val="1707098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ext-40">
            <a:extLst xmlns:a="http://schemas.openxmlformats.org/drawingml/2006/main">
              <a:ext uri="{FF2B5EF4-FFF2-40B4-BE49-F238E27FC236}">
                <a16:creationId xmlns:a16="http://schemas.microsoft.com/office/drawing/2014/main" id="{5A21CBAF-DFB3-4BDD-8BA2-D11CAD26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VIDU S2  /  RL &amp; PREFERENCE OPTIMIZATION</a:t>
            </a:r>
          </a:p>
        </p:txBody>
      </p:sp>
      <p:sp>
        <p:nvSpPr>
          <p:cNvPr id="2" name="text-41">
            <a:extLst xmlns:a="http://schemas.openxmlformats.org/drawingml/2006/main">
              <a:ext uri="{FF2B5EF4-FFF2-40B4-BE49-F238E27FC236}">
                <a16:creationId xmlns:a16="http://schemas.microsoft.com/office/drawing/2014/main" id="{7D60308F-EDC9-47F8-8B61-0B0ED610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3A37"/>
                </a:solidFill>
                <a:latin typeface="Arial"/>
                <a:ea typeface="Arial"/>
                <a:cs typeface="Arial"/>
              </a:rPr>
              <a:t>Preference alignment across two training stages</a:t>
            </a:r>
          </a:p>
        </p:txBody>
      </p:sp>
      <p:sp>
        <p:nvSpPr>
          <p:cNvPr id="3" name="text-42">
            <a:extLst xmlns:a="http://schemas.openxmlformats.org/drawingml/2006/main">
              <a:ext uri="{FF2B5EF4-FFF2-40B4-BE49-F238E27FC236}">
                <a16:creationId xmlns:a16="http://schemas.microsoft.com/office/drawing/2014/main" id="{1F49F264-134F-4ABC-B174-BA17E6D3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Bidirectional diffusion DPO strengthens the teacher; Streaming NFT aligns causal generation with rewards.</a:t>
            </a:r>
          </a:p>
        </p:txBody>
      </p:sp>
      <p:sp>
        <p:nvSpPr>
          <p:cNvPr id="4" name="text-43">
            <a:extLst xmlns:a="http://schemas.openxmlformats.org/drawingml/2006/main">
              <a:ext uri="{FF2B5EF4-FFF2-40B4-BE49-F238E27FC236}">
                <a16:creationId xmlns:a16="http://schemas.microsoft.com/office/drawing/2014/main" id="{25996DB1-13EF-470A-B202-6D05C1C4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-44">
            <a:extLst xmlns:a="http://schemas.openxmlformats.org/drawingml/2006/main">
              <a:ext uri="{FF2B5EF4-FFF2-40B4-BE49-F238E27FC236}">
                <a16:creationId xmlns:a16="http://schemas.microsoft.com/office/drawing/2014/main" id="{AD1216F8-C5FE-4ED9-952E-A22496F1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01  BIDIRECTIONAL STAGE</a:t>
            </a:r>
          </a:p>
        </p:txBody>
      </p:sp>
      <p:sp>
        <p:nvSpPr>
          <p:cNvPr id="6" name="panel-45">
            <a:extLst xmlns:a="http://schemas.openxmlformats.org/drawingml/2006/main">
              <a:ext uri="{FF2B5EF4-FFF2-40B4-BE49-F238E27FC236}">
                <a16:creationId xmlns:a16="http://schemas.microsoft.com/office/drawing/2014/main" id="{032EAC53-054C-454E-8CA9-30560425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9775"/>
            <a:ext cx="26574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15240">
            <a:solidFill>
              <a:srgbClr val="D3DFDA"/>
            </a:solidFill>
          </a:ln>
        </p:spPr>
      </p:sp>
      <p:sp>
        <p:nvSpPr>
          <p:cNvPr id="7" name="text-46">
            <a:extLst xmlns:a="http://schemas.openxmlformats.org/drawingml/2006/main">
              <a:ext uri="{FF2B5EF4-FFF2-40B4-BE49-F238E27FC236}">
                <a16:creationId xmlns:a16="http://schemas.microsoft.com/office/drawing/2014/main" id="{A09BB432-08CB-4371-8A77-D5F3F867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Bidirectional model</a:t>
            </a:r>
          </a:p>
        </p:txBody>
      </p:sp>
      <p:sp>
        <p:nvSpPr>
          <p:cNvPr id="8" name="text-47">
            <a:extLst xmlns:a="http://schemas.openxmlformats.org/drawingml/2006/main">
              <a:ext uri="{FF2B5EF4-FFF2-40B4-BE49-F238E27FC236}">
                <a16:creationId xmlns:a16="http://schemas.microsoft.com/office/drawing/2014/main" id="{4DFB1EDA-AE49-4299-9747-609AEE3A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2295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Teacher-side refinement</a:t>
            </a:r>
          </a:p>
        </p:txBody>
      </p:sp>
      <p:sp>
        <p:nvSpPr>
          <p:cNvPr id="9" name="panel-48">
            <a:extLst xmlns:a="http://schemas.openxmlformats.org/drawingml/2006/main">
              <a:ext uri="{FF2B5EF4-FFF2-40B4-BE49-F238E27FC236}">
                <a16:creationId xmlns:a16="http://schemas.microsoft.com/office/drawing/2014/main" id="{798AADB9-9A27-409B-BD3B-DBAA03F9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30289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0DD"/>
          </a:solidFill>
          <a:ln xmlns:a="http://schemas.openxmlformats.org/drawingml/2006/main" w="15240">
            <a:solidFill>
              <a:srgbClr val="D9C9A6"/>
            </a:solidFill>
          </a:ln>
        </p:spPr>
      </p:sp>
      <p:sp>
        <p:nvSpPr>
          <p:cNvPr id="10" name="text-49">
            <a:extLst xmlns:a="http://schemas.openxmlformats.org/drawingml/2006/main">
              <a:ext uri="{FF2B5EF4-FFF2-40B4-BE49-F238E27FC236}">
                <a16:creationId xmlns:a16="http://schemas.microsoft.com/office/drawing/2014/main" id="{E1473D68-CAAE-4889-9479-519714B0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717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57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57828"/>
                </a:solidFill>
                <a:latin typeface="Arial"/>
                <a:ea typeface="Arial"/>
                <a:cs typeface="Arial"/>
              </a:rPr>
              <a:t>Diffusion DPO</a:t>
            </a:r>
          </a:p>
        </p:txBody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8A3AFAB5-147E-47CA-986B-CDEA7D4B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19375"/>
            <a:ext cx="2647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Preference-based optimization</a:t>
            </a:r>
          </a:p>
        </p:txBody>
      </p:sp>
      <p:sp>
        <p:nvSpPr>
          <p:cNvPr id="12" name="panel-51">
            <a:extLst xmlns:a="http://schemas.openxmlformats.org/drawingml/2006/main">
              <a:ext uri="{FF2B5EF4-FFF2-40B4-BE49-F238E27FC236}">
                <a16:creationId xmlns:a16="http://schemas.microsoft.com/office/drawing/2014/main" id="{2663102C-B30E-4191-B89D-B2DABF77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4381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15240">
            <a:solidFill>
              <a:srgbClr val="D3DFDA"/>
            </a:solidFill>
          </a:ln>
        </p:spPr>
      </p:sp>
      <p:sp>
        <p:nvSpPr>
          <p:cNvPr id="13" name="text-52">
            <a:extLst xmlns:a="http://schemas.openxmlformats.org/drawingml/2006/main">
              <a:ext uri="{FF2B5EF4-FFF2-40B4-BE49-F238E27FC236}">
                <a16:creationId xmlns:a16="http://schemas.microsoft.com/office/drawing/2014/main" id="{6C7542F0-B070-4FE9-AC4D-73D26767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71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Stronger teacher</a:t>
            </a:r>
          </a:p>
        </p:txBody>
      </p:sp>
      <p:sp>
        <p:nvSpPr>
          <p:cNvPr id="14" name="text-53">
            <a:extLst xmlns:a="http://schemas.openxmlformats.org/drawingml/2006/main">
              <a:ext uri="{FF2B5EF4-FFF2-40B4-BE49-F238E27FC236}">
                <a16:creationId xmlns:a16="http://schemas.microsoft.com/office/drawing/2014/main" id="{528BF33D-80C7-40E2-B597-381FC2F4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193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Fidelity · expression · motion · A/V sync</a:t>
            </a:r>
          </a:p>
        </p:txBody>
      </p: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14675" y="2557463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27B88"/>
            </a:solidFill>
            <a:prstDash val="solid"/>
            <a:tail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43700" y="2557463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27B88"/>
            </a:solidFill>
            <a:prstDash val="solid"/>
            <a:tailEnd type="triangle" w="med" len="med"/>
          </a:ln>
        </p:spPr>
      </p:cxnSp>
      <p:sp>
        <p:nvSpPr>
          <p:cNvPr id="17" name="text-54">
            <a:extLst xmlns:a="http://schemas.openxmlformats.org/drawingml/2006/main">
              <a:ext uri="{FF2B5EF4-FFF2-40B4-BE49-F238E27FC236}">
                <a16:creationId xmlns:a16="http://schemas.microsoft.com/office/drawing/2014/main" id="{53774E7E-E3BA-43DA-A415-FD8794B2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1277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Causal adaptation connects the teacher stage to the streaming backbone.</a:t>
            </a:r>
          </a:p>
        </p:txBody>
      </p:sp>
      <p:sp>
        <p:nvSpPr>
          <p:cNvPr id="18" name="text-55">
            <a:extLst xmlns:a="http://schemas.openxmlformats.org/drawingml/2006/main">
              <a:ext uri="{FF2B5EF4-FFF2-40B4-BE49-F238E27FC236}">
                <a16:creationId xmlns:a16="http://schemas.microsoft.com/office/drawing/2014/main" id="{599A3BE6-10AA-4572-BDCE-3E664141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02  STREAMING STAGE</a:t>
            </a:r>
          </a:p>
        </p:txBody>
      </p:sp>
      <p:sp>
        <p:nvSpPr>
          <p:cNvPr id="19" name="panel-56">
            <a:extLst xmlns:a="http://schemas.openxmlformats.org/drawingml/2006/main">
              <a:ext uri="{FF2B5EF4-FFF2-40B4-BE49-F238E27FC236}">
                <a16:creationId xmlns:a16="http://schemas.microsoft.com/office/drawing/2014/main" id="{B22DF194-CFDE-4B51-A474-5939CD9C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2324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15240">
            <a:solidFill>
              <a:srgbClr val="D3DFDA"/>
            </a:solidFill>
          </a:ln>
        </p:spPr>
      </p:sp>
      <p:sp>
        <p:nvSpPr>
          <p:cNvPr id="20" name="text-57">
            <a:extLst xmlns:a="http://schemas.openxmlformats.org/drawingml/2006/main">
              <a:ext uri="{FF2B5EF4-FFF2-40B4-BE49-F238E27FC236}">
                <a16:creationId xmlns:a16="http://schemas.microsoft.com/office/drawing/2014/main" id="{E9161DD1-57FB-4468-BF51-E83EFC97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67225"/>
            <a:ext cx="1971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Detached rollout</a:t>
            </a:r>
          </a:p>
        </p:txBody>
      </p:sp>
      <p:sp>
        <p:nvSpPr>
          <p:cNvPr id="21" name="text-58">
            <a:extLst xmlns:a="http://schemas.openxmlformats.org/drawingml/2006/main">
              <a:ext uri="{FF2B5EF4-FFF2-40B4-BE49-F238E27FC236}">
                <a16:creationId xmlns:a16="http://schemas.microsoft.com/office/drawing/2014/main" id="{11DE4004-4FC1-4993-BE7E-6B2D2E93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95850"/>
            <a:ext cx="1990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Self-generated</a:t>
            </a:r>
          </a:p>
          <a:p xmlns:a="http://schemas.openxmlformats.org/drawingml/2006/main">
            <a:pPr>
              <a:defRPr sz="157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causal trajectories</a:t>
            </a:r>
          </a:p>
        </p:txBody>
      </p:sp>
      <p:sp>
        <p:nvSpPr>
          <p:cNvPr id="22" name="panel-59">
            <a:extLst xmlns:a="http://schemas.openxmlformats.org/drawingml/2006/main">
              <a:ext uri="{FF2B5EF4-FFF2-40B4-BE49-F238E27FC236}">
                <a16:creationId xmlns:a16="http://schemas.microsoft.com/office/drawing/2014/main" id="{A186DDDB-A5F8-473F-BBD3-1A65586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95775"/>
            <a:ext cx="2324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15240">
            <a:solidFill>
              <a:srgbClr val="D3DFDA"/>
            </a:solidFill>
          </a:ln>
        </p:spPr>
      </p:sp>
      <p:sp>
        <p:nvSpPr>
          <p:cNvPr id="23" name="text-60">
            <a:extLst xmlns:a="http://schemas.openxmlformats.org/drawingml/2006/main">
              <a:ext uri="{FF2B5EF4-FFF2-40B4-BE49-F238E27FC236}">
                <a16:creationId xmlns:a16="http://schemas.microsoft.com/office/drawing/2014/main" id="{9787F2EA-1B9A-4C23-BAAF-B902D0F4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467225"/>
            <a:ext cx="1971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Trajectory replay</a:t>
            </a:r>
          </a:p>
        </p:txBody>
      </p:sp>
      <p:sp>
        <p:nvSpPr>
          <p:cNvPr id="24" name="text-61">
            <a:extLst xmlns:a="http://schemas.openxmlformats.org/drawingml/2006/main">
              <a:ext uri="{FF2B5EF4-FFF2-40B4-BE49-F238E27FC236}">
                <a16:creationId xmlns:a16="http://schemas.microsoft.com/office/drawing/2014/main" id="{3D581E17-AED2-4B7A-81D4-40341E03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89585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Replay sampled</a:t>
            </a:r>
          </a:p>
          <a:p xmlns:a="http://schemas.openxmlformats.org/drawingml/2006/main">
            <a:pPr>
              <a:defRPr sz="1575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trajectory segments</a:t>
            </a:r>
          </a:p>
        </p:txBody>
      </p:sp>
      <p:sp>
        <p:nvSpPr>
          <p:cNvPr id="25" name="panel-62">
            <a:extLst xmlns:a="http://schemas.openxmlformats.org/drawingml/2006/main">
              <a:ext uri="{FF2B5EF4-FFF2-40B4-BE49-F238E27FC236}">
                <a16:creationId xmlns:a16="http://schemas.microsoft.com/office/drawing/2014/main" id="{AF7BF848-EDD2-47D2-B52D-E48612CA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2324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0DD"/>
          </a:solidFill>
          <a:ln xmlns:a="http://schemas.openxmlformats.org/drawingml/2006/main" w="15240">
            <a:solidFill>
              <a:srgbClr val="D9C9A6"/>
            </a:solidFill>
          </a:ln>
        </p:spPr>
      </p:sp>
      <p:sp>
        <p:nvSpPr>
          <p:cNvPr id="26" name="text-63">
            <a:extLst xmlns:a="http://schemas.openxmlformats.org/drawingml/2006/main">
              <a:ext uri="{FF2B5EF4-FFF2-40B4-BE49-F238E27FC236}">
                <a16:creationId xmlns:a16="http://schemas.microsoft.com/office/drawing/2014/main" id="{3CF5DA71-655B-4363-9326-CA00CAD1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67225"/>
            <a:ext cx="1971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57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57828"/>
                </a:solidFill>
                <a:latin typeface="Arial"/>
                <a:ea typeface="Arial"/>
                <a:cs typeface="Arial"/>
              </a:rPr>
              <a:t>Streaming NFT</a:t>
            </a:r>
          </a:p>
        </p:txBody>
      </p:sp>
      <p:sp>
        <p:nvSpPr>
          <p:cNvPr id="27" name="text-64">
            <a:extLst xmlns:a="http://schemas.openxmlformats.org/drawingml/2006/main">
              <a:ext uri="{FF2B5EF4-FFF2-40B4-BE49-F238E27FC236}">
                <a16:creationId xmlns:a16="http://schemas.microsoft.com/office/drawing/2014/main" id="{D1F0AE80-543C-4BAD-9D03-D21C772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89585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Reward-based</a:t>
            </a:r>
          </a:p>
          <a:p xmlns:a="http://schemas.openxmlformats.org/drawingml/2006/main">
            <a:pPr>
              <a:defRPr sz="1650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28" name="panel-65">
            <a:extLst xmlns:a="http://schemas.openxmlformats.org/drawingml/2006/main">
              <a:ext uri="{FF2B5EF4-FFF2-40B4-BE49-F238E27FC236}">
                <a16:creationId xmlns:a16="http://schemas.microsoft.com/office/drawing/2014/main" id="{0B6E80CA-70D9-4021-9D1D-7DA39B5C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95775"/>
            <a:ext cx="2362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15240">
            <a:solidFill>
              <a:srgbClr val="D3DFDA"/>
            </a:solidFill>
          </a:ln>
        </p:spPr>
      </p:sp>
      <p:sp>
        <p:nvSpPr>
          <p:cNvPr id="29" name="text-66">
            <a:extLst xmlns:a="http://schemas.openxmlformats.org/drawingml/2006/main">
              <a:ext uri="{FF2B5EF4-FFF2-40B4-BE49-F238E27FC236}">
                <a16:creationId xmlns:a16="http://schemas.microsoft.com/office/drawing/2014/main" id="{18AD9287-1890-4063-A1F6-E59ABFD1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467225"/>
            <a:ext cx="2009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B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7B88"/>
                </a:solidFill>
                <a:latin typeface="Arial"/>
                <a:ea typeface="Arial"/>
                <a:cs typeface="Arial"/>
              </a:rPr>
              <a:t>Model update</a:t>
            </a:r>
          </a:p>
        </p:txBody>
      </p:sp>
      <p:sp>
        <p:nvSpPr>
          <p:cNvPr id="30" name="text-67">
            <a:extLst xmlns:a="http://schemas.openxmlformats.org/drawingml/2006/main">
              <a:ext uri="{FF2B5EF4-FFF2-40B4-BE49-F238E27FC236}">
                <a16:creationId xmlns:a16="http://schemas.microsoft.com/office/drawing/2014/main" id="{2B739E08-B5EF-4608-B648-640DB9F0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895850"/>
            <a:ext cx="2009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Streaming quality</a:t>
            </a:r>
          </a:p>
          <a:p xmlns:a="http://schemas.openxmlformats.org/drawingml/2006/main">
            <a:pPr>
              <a:defRPr sz="1500" b="0">
                <a:solidFill>
                  <a:srgbClr val="203A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A37"/>
                </a:solidFill>
                <a:latin typeface="Arial"/>
                <a:ea typeface="Arial"/>
                <a:cs typeface="Arial"/>
              </a:rPr>
              <a:t>+ instruction adherence</a:t>
            </a:r>
          </a:p>
        </p:txBody>
      </p:sp>
      <p:cxnSp>
        <p:nvCxnSpPr>
          <p:cNvPr id="70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781300" y="49053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27B88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753100" y="49053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27B88"/>
            </a:solidFill>
            <a:prstDash val="solid"/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724900" y="49053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27B88"/>
            </a:solidFill>
            <a:prstDash val="solid"/>
            <a:tailEnd type="triangle" w="med" len="med"/>
          </a:ln>
        </p:spPr>
      </p:cxnSp>
      <p:sp>
        <p:nvSpPr>
          <p:cNvPr id="34" name="route-68">
            <a:extLst xmlns:a="http://schemas.openxmlformats.org/drawingml/2006/main">
              <a:ext uri="{FF2B5EF4-FFF2-40B4-BE49-F238E27FC236}">
                <a16:creationId xmlns:a16="http://schemas.microsoft.com/office/drawing/2014/main" id="{B9CE2933-8303-4AD3-96ED-5026E31D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14975"/>
            <a:ext cx="8934450" cy="466725"/>
          </a:xfrm>
          <a:custGeom xmlns:a="http://schemas.openxmlformats.org/drawingml/2006/main">
            <a:pathLst>
              <a:path w="8934450" h="466725">
                <a:moveTo>
                  <a:pt x="8934450" y="0"/>
                </a:moveTo>
                <a:lnTo>
                  <a:pt x="8934450" y="466725"/>
                </a:lnTo>
                <a:lnTo>
                  <a:pt x="0" y="4667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27B88"/>
            </a:solidFill>
            <a:prstDash val="solid"/>
          </a:ln>
        </p:spPr>
      </p:sp>
      <p:sp>
        <p:nvSpPr>
          <p:cNvPr id="35" name="arrowhead-69">
            <a:extLst xmlns:a="http://schemas.openxmlformats.org/drawingml/2006/main">
              <a:ext uri="{FF2B5EF4-FFF2-40B4-BE49-F238E27FC236}">
                <a16:creationId xmlns:a16="http://schemas.microsoft.com/office/drawing/2014/main" id="{E9281F35-C772-4ED4-9935-A647F723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55054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7B88"/>
          </a:solidFill>
          <a:ln xmlns:a="http://schemas.openxmlformats.org/drawingml/2006/main" w="0">
            <a:noFill/>
          </a:ln>
        </p:spPr>
      </p:sp>
      <p:sp>
        <p:nvSpPr>
          <p:cNvPr id="36" name="panel-70">
            <a:extLst xmlns:a="http://schemas.openxmlformats.org/drawingml/2006/main">
              <a:ext uri="{FF2B5EF4-FFF2-40B4-BE49-F238E27FC236}">
                <a16:creationId xmlns:a16="http://schemas.microsoft.com/office/drawing/2014/main" id="{EA04D706-DFE0-4C2F-8EA4-FDA38A5A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829300"/>
            <a:ext cx="5810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CFCF8"/>
          </a:solidFill>
          <a:ln xmlns:a="http://schemas.openxmlformats.org/drawingml/2006/main" w="15240">
            <a:solidFill>
              <a:srgbClr val="FCFCF8"/>
            </a:solidFill>
          </a:ln>
        </p:spPr>
      </p:sp>
      <p:sp>
        <p:nvSpPr>
          <p:cNvPr id="37" name="text-71">
            <a:extLst xmlns:a="http://schemas.openxmlformats.org/drawingml/2006/main">
              <a:ext uri="{FF2B5EF4-FFF2-40B4-BE49-F238E27FC236}">
                <a16:creationId xmlns:a16="http://schemas.microsoft.com/office/drawing/2014/main" id="{D8442E1D-6E01-434A-B661-BB2DD79B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57875"/>
            <a:ext cx="561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Inference-aligned replay · Self-Replay Forcing principle</a:t>
            </a:r>
          </a:p>
        </p:txBody>
      </p:sp>
      <p:sp>
        <p:nvSpPr>
          <p:cNvPr id="38" name="route-72">
            <a:extLst xmlns:a="http://schemas.openxmlformats.org/drawingml/2006/main">
              <a:ext uri="{FF2B5EF4-FFF2-40B4-BE49-F238E27FC236}">
                <a16:creationId xmlns:a16="http://schemas.microsoft.com/office/drawing/2014/main" id="{ABE6C2D0-DFFE-43F3-A6FA-8A2EBCF8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2225"/>
            <a:ext cx="11277600" cy="9525"/>
          </a:xfrm>
          <a:custGeom xmlns:a="http://schemas.openxmlformats.org/drawingml/2006/main"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D3DFDA"/>
            </a:solidFill>
            <a:prstDash val="solid"/>
          </a:ln>
        </p:spPr>
      </p:sp>
      <p:sp>
        <p:nvSpPr>
          <p:cNvPr id="39" name="text-73">
            <a:extLst xmlns:a="http://schemas.openxmlformats.org/drawingml/2006/main">
              <a:ext uri="{FF2B5EF4-FFF2-40B4-BE49-F238E27FC236}">
                <a16:creationId xmlns:a16="http://schemas.microsoft.com/office/drawing/2014/main" id="{B1F8039F-2029-4A03-BBEB-0933D03F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70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06B"/>
                </a:solidFill>
                <a:latin typeface="Arial"/>
                <a:ea typeface="Arial"/>
                <a:cs typeface="Arial"/>
              </a:rPr>
              <a:t>Based on Vidu S2 §2.2, “Preference Optimization” · Conceptual training flow; no quantitative gains implied.</a:t>
            </a:r>
          </a:p>
        </p:txBody>
      </p:sp>
    </p:spTree>
    <p:extLst>
      <p:ext uri="{BB962C8B-B14F-4D97-AF65-F5344CB8AC3E}">
        <p14:creationId xmlns:p14="http://schemas.microsoft.com/office/powerpoint/2010/main" val="307641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2026-09-12T17:25:26.3670000Z</dcterms:created>
  <dcterms:modified xsi:type="dcterms:W3CDTF">2026-09-12T17:25:26.3670000Z</dcterms:modified>
</coreProperties>
</file>